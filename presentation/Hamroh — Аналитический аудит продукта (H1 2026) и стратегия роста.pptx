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Inter" panose="020B0604020202020204" charset="0"/>
      <p:bold r:id="rId11"/>
      <p:boldItalic r:id="rId12"/>
    </p:embeddedFont>
    <p:embeddedFont>
      <p:font typeface="Inter ExtraBold" panose="020B0604020202020204" charset="0"/>
      <p:bold r:id="rId13"/>
      <p:boldItalic r:id="rId14"/>
    </p:embeddedFont>
    <p:embeddedFont>
      <p:font typeface="Inter Medium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c95f7637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c95f7637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c95f7637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c95f7637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c95f7637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8c95f7637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c95f7637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8c95f7637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c95f7637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c95f7637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c95f7637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c95f7637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c95f7637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8c95f7637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c95f7637_13_0)">
  <p:cSld name="Generated (g3f8c95f7637_13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381000" y="1524000"/>
            <a:ext cx="8382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Hamroh: Стратегический аудит продукта и план роста</a:t>
            </a:r>
            <a:endParaRPr sz="32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t>Аналитика за 1-е полугодие 2026 года (H1) и дорожная карта масштабирования (H2 2026)</a:t>
            </a:r>
            <a:endParaRPr sz="140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1000" y="390525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952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Руководитель проекта, Иноватсияи ояндасоз</a:t>
            </a:r>
            <a:endParaRPr sz="1100" b="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9" name="Google Shape;59;p14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381000" y="285937"/>
            <a:ext cx="2394118" cy="104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381000" y="3048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Ключевой статус: Дисбаланс маркетплейса при опережающем росте спроса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381000" y="1143000"/>
            <a:ext cx="2667000" cy="2286000"/>
            <a:chOff x="0" y="0"/>
            <a:chExt cx="2667000" cy="22860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ПРЕДЛОЖЕНИЕ (ВОДИТЕЛИ)</a:t>
              </a:r>
              <a:endParaRPr sz="9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4 719</a:t>
              </a:r>
              <a:endParaRPr sz="36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заказов водителей за H1 2026 (+8.1% YoY) формируют базу автопарка (в июле пик 2 300)</a:t>
              </a:r>
              <a:endParaRPr sz="105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3238500" y="1143000"/>
            <a:ext cx="2667000" cy="2286000"/>
            <a:chOff x="0" y="0"/>
            <a:chExt cx="2667000" cy="22860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ОПЕРЕЖАЮЩИЙ СПРОС</a:t>
              </a:r>
              <a:endParaRPr sz="900" b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+46.6%</a:t>
              </a:r>
              <a:endParaRPr sz="3600" b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прирост заявок пассажиров (2 449 заявок). Спрос растет в 5.7 раз быстрее предложения!</a:t>
              </a:r>
              <a:endParaRPr sz="105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6096000" y="1143000"/>
            <a:ext cx="2667000" cy="2286000"/>
            <a:chOff x="0" y="0"/>
            <a:chExt cx="2667000" cy="22860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0"/>
              <a:ext cx="57300" cy="2286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СТРАТЕГИЧЕСКИЙ ПРИОРИТЕТ</a:t>
              </a:r>
              <a:endParaRPr sz="12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100% маркетингового фокуса на привлечение пассажиров (Demand-side) для дозагрузки свободного автопарка</a:t>
              </a:r>
              <a:endParaRPr sz="1050" b="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76" name="Google Shape;76;p15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7355425" y="242257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381000" y="266700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Операционные метрики сервиса (H1 2026)</a:t>
            </a:r>
            <a:endParaRPr sz="18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381000" y="3714750"/>
            <a:ext cx="8382000" cy="914400"/>
            <a:chOff x="0" y="0"/>
            <a:chExt cx="8382000" cy="914400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8382000" cy="914400"/>
            </a:xfrm>
            <a:prstGeom prst="roundRect">
              <a:avLst>
                <a:gd name="adj" fmla="val 12500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0" y="0"/>
              <a:ext cx="57300" cy="9144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228600" y="152400"/>
              <a:ext cx="79248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dirty="0" err="1"/>
                <a:t>Привлекать</a:t>
              </a:r>
              <a:r>
                <a:rPr dirty="0"/>
                <a:t> </a:t>
              </a:r>
              <a:r>
                <a:rPr dirty="0" err="1"/>
                <a:t>водителей</a:t>
              </a:r>
              <a:r>
                <a:rPr dirty="0"/>
                <a:t> </a:t>
              </a:r>
              <a:r>
                <a:rPr dirty="0" err="1"/>
                <a:t>без</a:t>
              </a:r>
              <a:r>
                <a:rPr dirty="0"/>
                <a:t> </a:t>
              </a:r>
              <a:r>
                <a:rPr dirty="0" err="1"/>
                <a:t>пассажиров</a:t>
              </a:r>
              <a:r>
                <a:rPr dirty="0"/>
                <a:t> </a:t>
              </a:r>
              <a:r>
                <a:rPr dirty="0" err="1"/>
                <a:t>неэффективно</a:t>
              </a:r>
              <a:r>
                <a:rPr dirty="0"/>
                <a:t> — </a:t>
              </a:r>
              <a:r>
                <a:rPr dirty="0" err="1"/>
                <a:t>без</a:t>
              </a:r>
              <a:r>
                <a:rPr dirty="0"/>
                <a:t> </a:t>
              </a:r>
              <a:r>
                <a:rPr dirty="0" err="1"/>
                <a:t>попутчиков</a:t>
              </a:r>
              <a:r>
                <a:rPr dirty="0"/>
                <a:t> </a:t>
              </a:r>
              <a:r>
                <a:rPr dirty="0" err="1"/>
                <a:t>они</a:t>
              </a:r>
              <a:r>
                <a:rPr dirty="0"/>
                <a:t> </a:t>
              </a:r>
              <a:r>
                <a:rPr dirty="0" err="1"/>
                <a:t>уходят</a:t>
              </a:r>
              <a:r>
                <a:rPr dirty="0"/>
                <a:t>. </a:t>
              </a:r>
              <a:r>
                <a:rPr dirty="0" err="1"/>
                <a:t>Ключевая</a:t>
              </a:r>
              <a:r>
                <a:rPr dirty="0"/>
                <a:t> </a:t>
              </a:r>
              <a:r>
                <a:rPr dirty="0" err="1"/>
                <a:t>задача</a:t>
              </a:r>
              <a:r>
                <a:rPr dirty="0"/>
                <a:t> H2 — </a:t>
              </a:r>
              <a:r>
                <a:rPr dirty="0" err="1"/>
                <a:t>дозагрузить</a:t>
              </a:r>
              <a:r>
                <a:rPr dirty="0"/>
                <a:t> </a:t>
              </a:r>
              <a:r>
                <a:rPr dirty="0" err="1"/>
                <a:t>салоны</a:t>
              </a:r>
              <a:r>
                <a:rPr dirty="0"/>
                <a:t> </a:t>
              </a:r>
              <a:r>
                <a:rPr dirty="0" err="1"/>
                <a:t>авто</a:t>
              </a:r>
              <a:r>
                <a:rPr dirty="0"/>
                <a:t>.</a:t>
              </a:r>
              <a:endParaRPr sz="1100" b="0" dirty="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381000" y="800100"/>
            <a:ext cx="4048200" cy="2762249"/>
            <a:chOff x="0" y="0"/>
            <a:chExt cx="4048200" cy="25242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4048200" cy="2524200"/>
            </a:xfrm>
            <a:prstGeom prst="roundRect">
              <a:avLst>
                <a:gd name="adj" fmla="val 603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228600" y="228600"/>
              <a:ext cx="35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Предложение (Водители)</a:t>
              </a:r>
              <a:endParaRPr sz="1300" b="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91" name="Google Shape;91;p16"/>
            <p:cNvGrpSpPr/>
            <p:nvPr/>
          </p:nvGrpSpPr>
          <p:grpSpPr>
            <a:xfrm>
              <a:off x="228600" y="647700"/>
              <a:ext cx="3590850" cy="809700"/>
              <a:chOff x="0" y="0"/>
              <a:chExt cx="3590850" cy="809700"/>
            </a:xfrm>
          </p:grpSpPr>
          <p:sp>
            <p:nvSpPr>
              <p:cNvPr id="92" name="Google Shape;92;p16"/>
              <p:cNvSpPr txBox="1"/>
              <p:nvPr/>
            </p:nvSpPr>
            <p:spPr>
              <a:xfrm>
                <a:off x="0" y="0"/>
                <a:ext cx="1714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>4 719</a:t>
                </a:r>
                <a:endParaRPr sz="3400" b="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t>Поездок (H1)</a:t>
                </a:r>
                <a:endParaRPr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93" name="Google Shape;93;p16"/>
              <p:cNvSpPr txBox="1"/>
              <p:nvPr/>
            </p:nvSpPr>
            <p:spPr>
              <a:xfrm>
                <a:off x="1809750" y="0"/>
                <a:ext cx="17811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>18 800+</a:t>
                </a:r>
                <a:endParaRPr sz="3400" b="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t>Мест предложено</a:t>
                </a:r>
                <a:endParaRPr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94" name="Google Shape;94;p16"/>
            <p:cNvSpPr txBox="1"/>
            <p:nvPr/>
          </p:nvSpPr>
          <p:spPr>
            <a:xfrm>
              <a:off x="228600" y="1666875"/>
              <a:ext cx="3591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• 4 719 заказов водителей (+8.1% YoY)</a:t>
              </a:r>
              <a:endParaRPr sz="11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114300" marR="0" lvl="0" indent="-11430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• Пик сезона: в июле 2 300 машин на линии</a:t>
              </a:r>
              <a:endParaRPr sz="11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14875" y="800100"/>
            <a:ext cx="4048200" cy="2762249"/>
            <a:chOff x="0" y="0"/>
            <a:chExt cx="4048200" cy="25242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4048200" cy="2524200"/>
            </a:xfrm>
            <a:prstGeom prst="roundRect">
              <a:avLst>
                <a:gd name="adj" fmla="val 603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28600" y="228600"/>
              <a:ext cx="35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300" b="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Спрос (Пассажиры)</a:t>
              </a:r>
              <a:endParaRPr sz="1300" b="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98" name="Google Shape;98;p16"/>
            <p:cNvGrpSpPr/>
            <p:nvPr/>
          </p:nvGrpSpPr>
          <p:grpSpPr>
            <a:xfrm>
              <a:off x="228600" y="647700"/>
              <a:ext cx="3590850" cy="809700"/>
              <a:chOff x="0" y="0"/>
              <a:chExt cx="3590850" cy="809700"/>
            </a:xfrm>
          </p:grpSpPr>
          <p:sp>
            <p:nvSpPr>
              <p:cNvPr id="99" name="Google Shape;99;p16"/>
              <p:cNvSpPr txBox="1"/>
              <p:nvPr/>
            </p:nvSpPr>
            <p:spPr>
              <a:xfrm>
                <a:off x="0" y="0"/>
                <a:ext cx="1714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>2 449</a:t>
                </a:r>
                <a:endParaRPr sz="3400" b="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t>Заявок (H1)</a:t>
                </a:r>
                <a:endParaRPr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00" name="Google Shape;100;p16"/>
              <p:cNvSpPr txBox="1"/>
              <p:nvPr/>
            </p:nvSpPr>
            <p:spPr>
              <a:xfrm>
                <a:off x="1809750" y="0"/>
                <a:ext cx="17811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>+46.6%</a:t>
                </a:r>
                <a:endParaRPr sz="3400" b="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t>Рост спроса YoY</a:t>
                </a:r>
                <a:endParaRPr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01" name="Google Shape;101;p16"/>
            <p:cNvSpPr txBox="1"/>
            <p:nvPr/>
          </p:nvSpPr>
          <p:spPr>
            <a:xfrm>
              <a:off x="228600" y="1571625"/>
              <a:ext cx="3591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• 4 734 новые регистрации (+47.9% YoY)</a:t>
              </a:r>
              <a:endParaRPr sz="11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114300" marR="0" lvl="0" indent="-11430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• 17 792 визита сайта (в июле рекорд 12 000)</a:t>
              </a:r>
              <a:endParaRPr sz="11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114300" marR="0" lvl="0" indent="-11430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• Дисбаланс: на 1 пассажира ~1.9–2.3 места водителя (простой мест)</a:t>
              </a:r>
              <a:endParaRPr sz="1100" b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02" name="Google Shape;102;p16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7355500" y="151273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381000" y="2286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Концентрация спроса: 2 коридора формируют 72.7% платформы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p17"/>
          <p:cNvGrpSpPr/>
          <p:nvPr/>
        </p:nvGrpSpPr>
        <p:grpSpPr>
          <a:xfrm>
            <a:off x="381000" y="1047750"/>
            <a:ext cx="4095900" cy="3714900"/>
            <a:chOff x="0" y="0"/>
            <a:chExt cx="4095900" cy="3714900"/>
          </a:xfrm>
        </p:grpSpPr>
        <p:sp>
          <p:nvSpPr>
            <p:cNvPr id="110" name="Google Shape;110;p17"/>
            <p:cNvSpPr/>
            <p:nvPr/>
          </p:nvSpPr>
          <p:spPr>
            <a:xfrm>
              <a:off x="0" y="0"/>
              <a:ext cx="4095900" cy="371490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304800" y="304800"/>
              <a:ext cx="3486300" cy="31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ТРАНСПОРТНЫЕ КОРИДОРЫ</a:t>
              </a:r>
              <a:endParaRPr sz="9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>&gt;60% рынка</a:t>
              </a:r>
              <a:endParaRPr sz="1800" b="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Душанбе ⇄ Худжанд</a:t>
              </a:r>
              <a:endParaRPr sz="1125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>4 200+ поездок/год (150-160 TJS) • Главный фундамент сервиса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>12.0% рынка</a:t>
              </a:r>
              <a:endParaRPr sz="1800" b="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Худжанд ⇄ Ойбек (КПП)</a:t>
              </a:r>
              <a:endParaRPr sz="1125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>670+ авто / 160 заявок • Готовый органический трансграничный шлюз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>28.0% рынка</a:t>
              </a:r>
              <a:endParaRPr sz="1800" b="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>Второстепенные направления</a:t>
              </a:r>
              <a:endParaRPr sz="1125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>Пенджикент-Самарканд, Истаравшан, Душанбе-Бохтар/Куляб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>
            <a:off x="4667250" y="1047750"/>
            <a:ext cx="4095900" cy="3714900"/>
            <a:chOff x="0" y="0"/>
            <a:chExt cx="4095900" cy="3714900"/>
          </a:xfrm>
        </p:grpSpPr>
        <p:sp>
          <p:nvSpPr>
            <p:cNvPr id="113" name="Google Shape;113;p17"/>
            <p:cNvSpPr/>
            <p:nvPr/>
          </p:nvSpPr>
          <p:spPr>
            <a:xfrm>
              <a:off x="0" y="0"/>
              <a:ext cx="4095900" cy="371490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304800" y="304800"/>
              <a:ext cx="3486300" cy="310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СТРАТЕГИЧЕСКИЙ ВЫВОД</a:t>
              </a:r>
              <a:endParaRPr sz="9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>Фокус ресурсов (72%+ платформы):</a:t>
              </a:r>
              <a:endParaRPr sz="1125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t>Душанбе ⇄ Худжанд: Защита и максимальное насыщение спросом.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t>Худжанд ⇄ Ойбек: Развитие сквозного трансфера до Ташкента.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>Решение PM</a:t>
              </a:r>
              <a:endParaRPr sz="950" b="0">
                <a:solidFill>
                  <a:srgbClr val="1D4ED8"/>
                </a:solidFill>
                <a:highlight>
                  <a:srgbClr val="EFF6FF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>Сконцентрировать маркетинговый бюджет (95 000 TJS по ССП) исключительно на этих двух артериях без распыления на 10 второстепенных направлений.</a:t>
              </a:r>
              <a:endParaRPr sz="1000" b="0">
                <a:solidFill>
                  <a:srgbClr val="1E3A8A"/>
                </a:solidFill>
                <a:highlight>
                  <a:srgbClr val="EFF6FF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15" name="Google Shape;115;p17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7355575" y="20841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81000" y="2286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Структура мест, ценовой паритет и монетизация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81000" y="1047750"/>
            <a:ext cx="4095900" cy="333390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685800" y="1352550"/>
            <a:ext cx="3486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СТРУКТУРА МЕСТ</a:t>
            </a:r>
            <a:endParaRPr sz="900" b="1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t>75.3% пассажиров ищут 1–2 места (из них 54.9% едут в одиночку).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t>При этом 69.4% водителей предлагают стандартный 4-местный седан.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t>Hamroh идеально закрывает задачу добора попутчиков на свободные места.</a:t>
            </a:r>
            <a:endParaRPr sz="975" b="0">
              <a:solidFill>
                <a:srgbClr val="1E3A8A"/>
              </a:solidFill>
              <a:highlight>
                <a:srgbClr val="EFF6FF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667250" y="1047750"/>
            <a:ext cx="4095900" cy="333390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4972050" y="1352550"/>
            <a:ext cx="3486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ЦЕНОВОЙ АРБИТРАЖ И СБОРЫ</a:t>
            </a:r>
            <a:endParaRPr sz="900" b="1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t>Душанбе ⇄ Худжанд: рыночный консенсус 150–160 TJS за место.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t>Худжанд ⇄ Ойбек: идеальный паритет — цена составляет 40–50 TJS для обеих сторон.</a:t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t>Сборы выросли на +91.1% YoY (2 757.5 TJS в H1 2026 vs 1 443 TJS в H1 2025).</a:t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t>Удержанная комиссия за H1 составила 1 729 TJS. Модель работает, но требует автосписаний.</a:t>
            </a:r>
            <a:endParaRPr sz="975" b="0">
              <a:solidFill>
                <a:srgbClr val="0F172A"/>
              </a:solidFill>
              <a:highlight>
                <a:srgbClr val="F8FAFC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7" name="Google Shape;127;p18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7355575" y="1131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3" name="Google Shape;133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381000" y="22860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Тактика привлечения пассажиров (Синхронизация с ССП)</a:t>
              </a:r>
              <a:endParaRPr sz="15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9"/>
          <p:cNvGrpSpPr/>
          <p:nvPr/>
        </p:nvGrpSpPr>
        <p:grpSpPr>
          <a:xfrm>
            <a:off x="381000" y="952500"/>
            <a:ext cx="8382000" cy="857400"/>
            <a:chOff x="0" y="0"/>
            <a:chExt cx="8382000" cy="857400"/>
          </a:xfrm>
        </p:grpSpPr>
        <p:sp>
          <p:nvSpPr>
            <p:cNvPr id="137" name="Google Shape;137;p19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name="adj" fmla="val 8888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0" y="0"/>
              <a:ext cx="57300" cy="8574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304800" y="228600"/>
              <a:ext cx="77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Ключевой оффер: «0% комиссии сервиса пассажирам. Комфортные поездки от дома без ожидания и переплат на вокзалах»</a:t>
              </a:r>
              <a:endParaRPr sz="1125" b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0" name="Google Shape;140;p19"/>
          <p:cNvGrpSpPr/>
          <p:nvPr/>
        </p:nvGrpSpPr>
        <p:grpSpPr>
          <a:xfrm>
            <a:off x="381000" y="2000250"/>
            <a:ext cx="2667000" cy="2286000"/>
            <a:chOff x="0" y="0"/>
            <a:chExt cx="2667000" cy="2286000"/>
          </a:xfrm>
        </p:grpSpPr>
        <p:sp>
          <p:nvSpPr>
            <p:cNvPr id="141" name="Google Shape;141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Таргет Душанбе ⇄ Худжанд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Акцент на уход от многочасового ожидания на пятачках («Цементзавод», «Рохи Абрешим») (Meta, Telegram).</a:t>
              </a:r>
              <a:endParaRPr sz="975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Оффер: «Машина ждет тебя прямо сейчас от 150 TJS»</a:t>
              </a:r>
              <a:endParaRPr sz="975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9"/>
          <p:cNvGrpSpPr/>
          <p:nvPr/>
        </p:nvGrpSpPr>
        <p:grpSpPr>
          <a:xfrm>
            <a:off x="3238500" y="2000250"/>
            <a:ext cx="2667000" cy="2286000"/>
            <a:chOff x="0" y="0"/>
            <a:chExt cx="2667000" cy="2286000"/>
          </a:xfrm>
        </p:grpSpPr>
        <p:sp>
          <p:nvSpPr>
            <p:cNvPr id="144" name="Google Shape;144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Медиаплан ССП (Бюджет 95 000 TJS)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Брендинг машин, оффлайн промо на автовокзалах, рилс с лидерами мнений (Фаррух Сангинов, автоблогеры).</a:t>
              </a:r>
              <a:endParaRPr sz="975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Мерч для топ-водителей и спонсорство дорожных точек.</a:t>
              </a:r>
              <a:endParaRPr sz="975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9"/>
          <p:cNvGrpSpPr/>
          <p:nvPr/>
        </p:nvGrpSpPr>
        <p:grpSpPr>
          <a:xfrm>
            <a:off x="6096000" y="2000250"/>
            <a:ext cx="2667000" cy="2286000"/>
            <a:chOff x="0" y="0"/>
            <a:chExt cx="2667000" cy="2286000"/>
          </a:xfrm>
        </p:grpSpPr>
        <p:sp>
          <p:nvSpPr>
            <p:cNvPr id="147" name="Google Shape;147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Time-targeted &amp; Трансграничный трафик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>Показ рекламы с 18:00 до 22:00, т.к. 70% выездов идут утром с 05:00 до 10:00.</a:t>
              </a:r>
              <a:endParaRPr sz="975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Продвижение шлюза Ойбек/Ташкент для студентов и челноков от 50 TJS.</a:t>
              </a:r>
              <a:endParaRPr sz="975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49" name="Google Shape;149;p19" title="navbar_logo-DWVVgoV4.png"/>
          <p:cNvPicPr preferRelativeResize="0"/>
          <p:nvPr/>
        </p:nvPicPr>
        <p:blipFill rotWithShape="1">
          <a:blip r:embed="rId3">
            <a:alphaModFix/>
          </a:blip>
          <a:srcRect l="7334" r="7385"/>
          <a:stretch/>
        </p:blipFill>
        <p:spPr>
          <a:xfrm>
            <a:off x="7355425" y="1163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381000" y="228600"/>
            <a:ext cx="6667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Дорожная карта реализации: План на H2 2026</a:t>
            </a:r>
            <a:endParaRPr sz="15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6" name="Google Shape;156;p20"/>
          <p:cNvGrpSpPr/>
          <p:nvPr/>
        </p:nvGrpSpPr>
        <p:grpSpPr>
          <a:xfrm>
            <a:off x="3048000" y="1676400"/>
            <a:ext cx="3048000" cy="76200"/>
            <a:chOff x="3048000" y="1676400"/>
            <a:chExt cx="3048000" cy="76200"/>
          </a:xfrm>
        </p:grpSpPr>
        <p:pic>
          <p:nvPicPr>
            <p:cNvPr id="157" name="Google Shape;15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48000" y="170497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0"/>
            <p:cNvSpPr/>
            <p:nvPr/>
          </p:nvSpPr>
          <p:spPr>
            <a:xfrm>
              <a:off x="3181350" y="1676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9" name="Google Shape;15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905500" y="170497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0"/>
            <p:cNvSpPr/>
            <p:nvPr/>
          </p:nvSpPr>
          <p:spPr>
            <a:xfrm>
              <a:off x="6038850" y="1676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20"/>
          <p:cNvGrpSpPr/>
          <p:nvPr/>
        </p:nvGrpSpPr>
        <p:grpSpPr>
          <a:xfrm>
            <a:off x="381000" y="1333500"/>
            <a:ext cx="2667000" cy="3048000"/>
            <a:chOff x="0" y="0"/>
            <a:chExt cx="2667000" cy="3048000"/>
          </a:xfrm>
        </p:grpSpPr>
        <p:sp>
          <p:nvSpPr>
            <p:cNvPr id="162" name="Google Shape;162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w="14300" cap="flat" cmpd="sng">
              <a:solidFill>
                <a:srgbClr val="1D4E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50" b="1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Месяц 1</a:t>
              </a:r>
              <a:endParaRPr sz="9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Снижение отмен и Demand-буст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Запуск таргета на пассажиров Душанбе ⇄ Худжанд, пуш-подтверждение поездок (снижение отмен с 29% до 15% по ССП), сбор комьюнити из топ-50 водителей.</a:t>
              </a:r>
              <a:endParaRPr sz="1013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20"/>
          <p:cNvGrpSpPr/>
          <p:nvPr/>
        </p:nvGrpSpPr>
        <p:grpSpPr>
          <a:xfrm>
            <a:off x="3238500" y="1333500"/>
            <a:ext cx="2667000" cy="3048000"/>
            <a:chOff x="0" y="0"/>
            <a:chExt cx="2667000" cy="3048000"/>
          </a:xfrm>
        </p:grpSpPr>
        <p:sp>
          <p:nvSpPr>
            <p:cNvPr id="167" name="Google Shape;167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w="14300" cap="flat" cmpd="sng">
              <a:solidFill>
                <a:srgbClr val="1D4E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50" b="1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Месяц 2</a:t>
              </a:r>
              <a:endParaRPr sz="9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Упаковка шлюза и B2B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Репозиционирование пункта назначения в «Ойбек (Ташкент / граница)», запуск реферальной программы и первые B2B-договоры с организациями (цель ССП: 50 компаний).</a:t>
              </a:r>
              <a:endParaRPr sz="1013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6096000" y="1333500"/>
            <a:ext cx="2667000" cy="3048000"/>
            <a:chOff x="0" y="0"/>
            <a:chExt cx="2667000" cy="3048000"/>
          </a:xfrm>
        </p:grpSpPr>
        <p:sp>
          <p:nvSpPr>
            <p:cNvPr id="172" name="Google Shape;172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w="14300" cap="flat" cmpd="sng">
              <a:solidFill>
                <a:srgbClr val="1D4E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50" b="1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>Месяц 3</a:t>
              </a:r>
              <a:endParaRPr sz="900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>Международный трафик и автоматизация</a:t>
              </a:r>
              <a:endParaRPr sz="13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>Интеграция узбекских номеров (+998), полная автоматизация списания комиссии через эквайринг и подготовка к пиковому сезону Q4.</a:t>
              </a:r>
              <a:endParaRPr sz="1013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6" name="Google Shape;176;p20" title="navbar_logo-DWVVgoV4.png"/>
          <p:cNvPicPr preferRelativeResize="0"/>
          <p:nvPr/>
        </p:nvPicPr>
        <p:blipFill rotWithShape="1">
          <a:blip r:embed="rId4">
            <a:alphaModFix/>
          </a:blip>
          <a:srcRect l="7334" r="7385"/>
          <a:stretch/>
        </p:blipFill>
        <p:spPr>
          <a:xfrm>
            <a:off x="7355425" y="1893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37590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E32"/>
                </a:solidFill>
              </a:defRPr>
            </a:pPr>
            <a:r>
              <a:t>Сравнительный анализ: Цели ССП 2026 vs Фактическая траектория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51560"/>
            <a:ext cx="2670048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90FF"/>
                </a:solidFill>
              </a:defRPr>
            </a:pPr>
            <a:r>
              <a:t>ФИНАНСЫ И МОНЕТИЗАЦИЯ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Цель ССП на 2026:</a:t>
            </a:r>
          </a:p>
          <a:p>
            <a:pPr>
              <a:defRPr sz="1500" b="1">
                <a:solidFill>
                  <a:srgbClr val="DC2626"/>
                </a:solidFill>
              </a:defRPr>
            </a:pPr>
            <a:r>
              <a:t>2 232 000 TJS выручки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(186 000 TJS в месяц при 10% комиссии)</a:t>
            </a:r>
          </a:p>
          <a:p>
            <a:br/>
            <a:r>
              <a:t>Факт H1 2026: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2 757.5 TJS сборов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Рост +91.1% YoY (комиссия 1 729 TJS).</a:t>
            </a:r>
            <a:br/>
            <a:br/>
            <a:r>
              <a:t>Стратегическое решение:</a:t>
            </a:r>
            <a:br/>
            <a:r>
              <a:t>Комиссия сейчас платится добровольно. Необходим обязательный депозит/эквайринг водителя перед выездом, чтобы исключить утечки выручки.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1051560"/>
            <a:ext cx="2670048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74136" y="1188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90FF"/>
                </a:solidFill>
              </a:defRPr>
            </a:pPr>
            <a:r>
              <a:t>ОБЪЕМЫ И ТЕМПЫ РОСТА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Цель ССП на 2026:</a:t>
            </a:r>
          </a:p>
          <a:p>
            <a:pPr>
              <a:defRPr sz="1500" b="1">
                <a:solidFill>
                  <a:srgbClr val="DC2626"/>
                </a:solidFill>
              </a:defRPr>
            </a:pPr>
            <a:r>
              <a:t>37 000 заказов/мес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(~1 200 заказов в день по 12 направлениям)</a:t>
            </a:r>
          </a:p>
          <a:p>
            <a:br/>
            <a:r>
              <a:t>Факт H1 2026: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Пик 2 921 заказ/мес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За 7 мес. достигнуто 10 089 заказов (+34.3% YoY).</a:t>
            </a:r>
            <a:br/>
            <a:br/>
            <a:r>
              <a:t>Стратегическое решение:</a:t>
            </a:r>
            <a:br/>
            <a:r>
              <a:t>Реалистичный ориентир конца 2026 г. — выход на 4 500–6 000 заказов в месяц за счет дозагрузки маршрута Душанбе-Худжанд и коридора на Ташкент.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051560"/>
            <a:ext cx="2670048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1188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90FF"/>
                </a:solidFill>
              </a:defRPr>
            </a:pPr>
            <a:r>
              <a:t>ДИСЦИПЛИНА И КОНВЕРСИЯ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Цель ССП на 2026:</a:t>
            </a:r>
          </a:p>
          <a:p>
            <a:pPr>
              <a:defRPr sz="1500" b="1">
                <a:solidFill>
                  <a:srgbClr val="DC2626"/>
                </a:solidFill>
              </a:defRPr>
            </a:pPr>
            <a:r>
              <a:t>Снижение отмен до 15%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(260 активных водителей в день)</a:t>
            </a:r>
          </a:p>
          <a:p>
            <a:br/>
            <a:r>
              <a:t>Факт H1 2026:</a:t>
            </a:r>
          </a:p>
          <a:p>
            <a:pPr>
              <a:defRPr sz="1500" b="1">
                <a:solidFill>
                  <a:srgbClr val="EA580C"/>
                </a:solidFill>
              </a:defRPr>
            </a:pPr>
            <a:r>
              <a:t>Отмены ~24–29%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На линии ~70–80 машин в день.</a:t>
            </a:r>
            <a:br/>
            <a:br/>
            <a:r>
              <a:t>Стратегическое решение:</a:t>
            </a:r>
            <a:br/>
            <a:r>
              <a:t>Внедрение обязательного пуш-подтверждения факта поездки, рейтинга благонадежности и штрафных санкций за срыв договоренностей перед выездом.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</Words>
  <Application>Microsoft Office PowerPoint</Application>
  <PresentationFormat>Экран (16:9)</PresentationFormat>
  <Paragraphs>102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Inter SemiBold</vt:lpstr>
      <vt:lpstr>Inter</vt:lpstr>
      <vt:lpstr>Inter ExtraBold</vt:lpstr>
      <vt:lpstr>Arial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HP</cp:lastModifiedBy>
  <cp:revision>1</cp:revision>
  <dcterms:modified xsi:type="dcterms:W3CDTF">2026-09-11T07:13:45Z</dcterms:modified>
</cp:coreProperties>
</file>