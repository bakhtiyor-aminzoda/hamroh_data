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bold r:id="rId17"/>
      <p:boldItalic r:id="rId18"/>
    </p:embeddedFont>
    <p:embeddedFont>
      <p:font typeface="Inter ExtraBold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22" Type="http://schemas.openxmlformats.org/officeDocument/2006/relationships/font" Target="fonts/InterMedium-bold.fntdata"/><Relationship Id="rId10" Type="http://schemas.openxmlformats.org/officeDocument/2006/relationships/slide" Target="slides/slide5.xml"/><Relationship Id="rId21" Type="http://schemas.openxmlformats.org/officeDocument/2006/relationships/font" Target="fonts/InterMedium-regular.fntdata"/><Relationship Id="rId13" Type="http://schemas.openxmlformats.org/officeDocument/2006/relationships/font" Target="fonts/InterSemiBold-regular.fntdata"/><Relationship Id="rId24" Type="http://schemas.openxmlformats.org/officeDocument/2006/relationships/font" Target="fonts/Inter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Inter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bold.fntdata"/><Relationship Id="rId16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c95f7637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c95f7637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c95f7637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8c95f7637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c95f7637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8c95f7637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c95f7637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8c95f7637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c95f7637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c95f7637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c95f7637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c95f7637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c95f7637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8c95f7637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c95f7637_13_0)">
  <p:cSld name="Generated (g3f8c95f7637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381000" y="1524000"/>
            <a:ext cx="8382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3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Hamroh: Стратегический аудит продукта и план роста</a:t>
            </a:r>
            <a:endParaRPr b="0" sz="32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ru" sz="14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Аналитика за Август 2026 года и дорожная карта масштабирования (Q3–Q4)</a:t>
            </a:r>
            <a:endParaRPr b="0" sz="14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81000" y="390525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Руководитель проекта, Иноватсияи ояндасоз</a:t>
            </a:r>
            <a:endParaRPr b="0" sz="11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9" name="Google Shape;59;p14" title="navbar_logo-DWVVgoV4.png"/>
          <p:cNvPicPr preferRelativeResize="0"/>
          <p:nvPr/>
        </p:nvPicPr>
        <p:blipFill rotWithShape="1">
          <a:blip r:embed="rId3">
            <a:alphaModFix/>
          </a:blip>
          <a:srcRect b="0" l="7334" r="7385" t="0"/>
          <a:stretch/>
        </p:blipFill>
        <p:spPr>
          <a:xfrm>
            <a:off x="381000" y="285937"/>
            <a:ext cx="2394118" cy="104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381000" y="3048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Ключевой статус: Активное ядро предложения при остром дефиците пассажиров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381000" y="1143000"/>
            <a:ext cx="2667000" cy="2286000"/>
            <a:chOff x="0" y="0"/>
            <a:chExt cx="2667000" cy="22860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ПРЕДЛОЖЕНИЕ РАБОТАЕТ</a:t>
              </a:r>
              <a:endParaRPr b="1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36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546</a:t>
              </a:r>
              <a:endParaRPr b="1" sz="36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активных водителей обеспечивают ~70 машин на линии в день (2 180 поездок в месяц)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3238500" y="1143000"/>
            <a:ext cx="2667000" cy="2286000"/>
            <a:chOff x="0" y="0"/>
            <a:chExt cx="2667000" cy="22860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РАЗРЫВ МАРКЕТПЛЕЙСА</a:t>
              </a:r>
              <a:endParaRPr b="1" sz="9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36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9.7x</a:t>
              </a:r>
              <a:endParaRPr b="1" sz="36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предложение свободных мест превышает спрос (7 931 место против 814)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6096000" y="1143000"/>
            <a:ext cx="2667000" cy="2286000"/>
            <a:chOff x="0" y="0"/>
            <a:chExt cx="2667000" cy="22860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3333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0"/>
              <a:ext cx="57300" cy="22860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СТРАТЕГИЧЕСКИЙ ПРИОРИТЕТ</a:t>
              </a:r>
              <a:endParaRPr b="1" sz="12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0F172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100% маркетингового фокуса на привлечение пассажиров (Demand-side) для обеспечения загрузки свободного парка</a:t>
              </a:r>
              <a:endParaRPr b="0" sz="10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76" name="Google Shape;76;p15" title="navbar_logo-DWVVgoV4.png"/>
          <p:cNvPicPr preferRelativeResize="0"/>
          <p:nvPr/>
        </p:nvPicPr>
        <p:blipFill rotWithShape="1">
          <a:blip r:embed="rId3">
            <a:alphaModFix/>
          </a:blip>
          <a:srcRect b="0" l="7334" r="7385" t="0"/>
          <a:stretch/>
        </p:blipFill>
        <p:spPr>
          <a:xfrm>
            <a:off x="7355425" y="242257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381000" y="266700"/>
            <a:ext cx="666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Операционные метрики сервиса</a:t>
            </a:r>
            <a:endParaRPr b="0" sz="1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381000" y="3714750"/>
            <a:ext cx="8382000" cy="914400"/>
            <a:chOff x="0" y="0"/>
            <a:chExt cx="8382000" cy="914400"/>
          </a:xfrm>
        </p:grpSpPr>
        <p:sp>
          <p:nvSpPr>
            <p:cNvPr id="85" name="Google Shape;85;p16"/>
            <p:cNvSpPr/>
            <p:nvPr/>
          </p:nvSpPr>
          <p:spPr>
            <a:xfrm>
              <a:off x="0" y="0"/>
              <a:ext cx="8382000" cy="914400"/>
            </a:xfrm>
            <a:prstGeom prst="roundRect">
              <a:avLst>
                <a:gd fmla="val 12500" name="adj"/>
              </a:avLst>
            </a:prstGeom>
            <a:solidFill>
              <a:srgbClr val="FEF2F2"/>
            </a:solidFill>
            <a:ln cap="flat" cmpd="sng" w="9525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0" y="0"/>
              <a:ext cx="57300" cy="9144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228600" y="152400"/>
              <a:ext cx="79248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Привлекать новых водителей сейчас бессмысленно — без заказов они уходят. Единственный способ удержать базу водителей — загрузить их салоны пассажирами.</a:t>
              </a:r>
              <a:endParaRPr b="0" sz="1100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381000" y="904875"/>
            <a:ext cx="4048200" cy="2524200"/>
            <a:chOff x="0" y="0"/>
            <a:chExt cx="4048200" cy="25242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40482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228600" y="228600"/>
              <a:ext cx="35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3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Предложение (Водители)</a:t>
              </a:r>
              <a:endParaRPr b="0" sz="130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91" name="Google Shape;91;p16"/>
            <p:cNvGrpSpPr/>
            <p:nvPr/>
          </p:nvGrpSpPr>
          <p:grpSpPr>
            <a:xfrm>
              <a:off x="228600" y="647700"/>
              <a:ext cx="3590850" cy="809700"/>
              <a:chOff x="0" y="0"/>
              <a:chExt cx="3590850" cy="809700"/>
            </a:xfrm>
          </p:grpSpPr>
          <p:sp>
            <p:nvSpPr>
              <p:cNvPr id="92" name="Google Shape;92;p16"/>
              <p:cNvSpPr txBox="1"/>
              <p:nvPr/>
            </p:nvSpPr>
            <p:spPr>
              <a:xfrm>
                <a:off x="0" y="0"/>
                <a:ext cx="1714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3400">
                    <a:solidFill>
                      <a:srgbClr val="1D4ED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2 180</a:t>
                </a:r>
                <a:endParaRPr b="0" sz="34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Поездок</a:t>
                </a:r>
                <a:endParaRPr b="0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93" name="Google Shape;93;p16"/>
              <p:cNvSpPr txBox="1"/>
              <p:nvPr/>
            </p:nvSpPr>
            <p:spPr>
              <a:xfrm>
                <a:off x="1809750" y="0"/>
                <a:ext cx="17811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3400">
                    <a:solidFill>
                      <a:srgbClr val="1D4ED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7 931</a:t>
                </a:r>
                <a:endParaRPr b="0" sz="34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Мест предложено</a:t>
                </a:r>
                <a:endParaRPr b="0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94" name="Google Shape;94;p16"/>
            <p:cNvSpPr txBox="1"/>
            <p:nvPr/>
          </p:nvSpPr>
          <p:spPr>
            <a:xfrm>
              <a:off x="228600" y="1666875"/>
              <a:ext cx="3591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1430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ru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546</a:t>
              </a: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активных водителей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114300" lvl="0" marL="1143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ru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~70</a:t>
              </a: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машин в день на линии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714875" y="904875"/>
            <a:ext cx="4048200" cy="2524200"/>
            <a:chOff x="0" y="0"/>
            <a:chExt cx="4048200" cy="25242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40482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228600" y="228600"/>
              <a:ext cx="35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30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Спрос (Пассажиры)</a:t>
              </a:r>
              <a:endParaRPr b="0" sz="130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98" name="Google Shape;98;p16"/>
            <p:cNvGrpSpPr/>
            <p:nvPr/>
          </p:nvGrpSpPr>
          <p:grpSpPr>
            <a:xfrm>
              <a:off x="228600" y="647700"/>
              <a:ext cx="3590850" cy="809700"/>
              <a:chOff x="0" y="0"/>
              <a:chExt cx="3590850" cy="809700"/>
            </a:xfrm>
          </p:grpSpPr>
          <p:sp>
            <p:nvSpPr>
              <p:cNvPr id="99" name="Google Shape;99;p16"/>
              <p:cNvSpPr txBox="1"/>
              <p:nvPr/>
            </p:nvSpPr>
            <p:spPr>
              <a:xfrm>
                <a:off x="0" y="0"/>
                <a:ext cx="17145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3400">
                    <a:solidFill>
                      <a:srgbClr val="EF4444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452</a:t>
                </a:r>
                <a:endParaRPr b="0" sz="340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Заявки</a:t>
                </a:r>
                <a:endParaRPr b="0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00" name="Google Shape;100;p16"/>
              <p:cNvSpPr txBox="1"/>
              <p:nvPr/>
            </p:nvSpPr>
            <p:spPr>
              <a:xfrm>
                <a:off x="1809750" y="0"/>
                <a:ext cx="1781100" cy="8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ru" sz="3400">
                    <a:solidFill>
                      <a:srgbClr val="EF4444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814</a:t>
                </a:r>
                <a:endParaRPr b="0" sz="340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ru" sz="1100">
                    <a:solidFill>
                      <a:srgbClr val="64748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Мест запрошено</a:t>
                </a:r>
                <a:endParaRPr b="0" sz="1100">
                  <a:solidFill>
                    <a:srgbClr val="64748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101" name="Google Shape;101;p16"/>
            <p:cNvSpPr txBox="1"/>
            <p:nvPr/>
          </p:nvSpPr>
          <p:spPr>
            <a:xfrm>
              <a:off x="228600" y="1571625"/>
              <a:ext cx="3591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1430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ru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373</a:t>
              </a: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активных пассажира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114300" lvl="0" marL="1143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ru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~14.5</a:t>
              </a: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заявок в день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114300" lvl="0" marL="11430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• </a:t>
              </a:r>
              <a:r>
                <a:rPr b="1" lang="ru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Разрыв по местам:</a:t>
              </a: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в </a:t>
              </a:r>
              <a:r>
                <a:rPr b="1" lang="ru" sz="11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9.7x</a:t>
              </a:r>
              <a:r>
                <a:rPr b="0" lang="ru" sz="11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меньше предложения (дефицит 7 117 мест)</a:t>
              </a:r>
              <a:endParaRPr b="0" sz="110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02" name="Google Shape;102;p16" title="navbar_logo-DWVVgoV4.png"/>
          <p:cNvPicPr preferRelativeResize="0"/>
          <p:nvPr/>
        </p:nvPicPr>
        <p:blipFill rotWithShape="1">
          <a:blip r:embed="rId3">
            <a:alphaModFix/>
          </a:blip>
          <a:srcRect b="0" l="7334" r="7385" t="0"/>
          <a:stretch/>
        </p:blipFill>
        <p:spPr>
          <a:xfrm>
            <a:off x="7355500" y="151273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381000" y="22860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Концентрация спроса: 2 коридора формируют 72.7% платформы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" name="Google Shape;109;p17"/>
          <p:cNvGrpSpPr/>
          <p:nvPr/>
        </p:nvGrpSpPr>
        <p:grpSpPr>
          <a:xfrm>
            <a:off x="381000" y="1047750"/>
            <a:ext cx="4095900" cy="3714900"/>
            <a:chOff x="0" y="0"/>
            <a:chExt cx="4095900" cy="3714900"/>
          </a:xfrm>
        </p:grpSpPr>
        <p:sp>
          <p:nvSpPr>
            <p:cNvPr id="110" name="Google Shape;110;p17"/>
            <p:cNvSpPr/>
            <p:nvPr/>
          </p:nvSpPr>
          <p:spPr>
            <a:xfrm>
              <a:off x="0" y="0"/>
              <a:ext cx="4095900" cy="3714900"/>
            </a:xfrm>
            <a:prstGeom prst="roundRect">
              <a:avLst>
                <a:gd fmla="val 205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304800" y="304800"/>
              <a:ext cx="3486300" cy="31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ТРАНСПОРТНЫЕ КОРИДОРЫ</a:t>
              </a:r>
              <a:endParaRPr b="1" sz="9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ru" sz="18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60.7% </a:t>
              </a:r>
              <a:r>
                <a:rPr b="0" lang="ru" sz="975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рынка</a:t>
              </a:r>
              <a:endParaRPr b="0" sz="180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Душанбе ⇄ Худжанд</a:t>
              </a:r>
              <a:endParaRPr b="1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ru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1 364 авто / 233 заявки • </a:t>
              </a:r>
              <a:r>
                <a:rPr b="0" lang="ru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Главный фундамент сервиса</a:t>
              </a:r>
              <a:endParaRPr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ru" sz="1800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12.0% </a:t>
              </a:r>
              <a:r>
                <a:rPr b="0" lang="ru" sz="975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рынка</a:t>
              </a:r>
              <a:endParaRPr b="0" sz="180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Худжанд ⇄ Ойбек (КПП)</a:t>
              </a:r>
              <a:endParaRPr b="1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ru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286 авто / 31 заявка • </a:t>
              </a:r>
              <a:r>
                <a:rPr b="0" lang="ru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Органический трансграничный шлюз</a:t>
              </a:r>
              <a:endParaRPr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ru" sz="1800">
                  <a:solidFill>
                    <a:srgbClr val="64748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27.3% </a:t>
              </a:r>
              <a:r>
                <a:rPr b="0" lang="ru" sz="975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рынка</a:t>
              </a:r>
              <a:endParaRPr b="0" sz="1800">
                <a:solidFill>
                  <a:srgbClr val="64748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ru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Прочие направления</a:t>
              </a:r>
              <a:endParaRPr b="1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ru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Пенджикент, Истаравшан, Ойбек</a:t>
              </a:r>
              <a:endParaRPr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7"/>
          <p:cNvGrpSpPr/>
          <p:nvPr/>
        </p:nvGrpSpPr>
        <p:grpSpPr>
          <a:xfrm>
            <a:off x="4667250" y="1047750"/>
            <a:ext cx="4095900" cy="3714900"/>
            <a:chOff x="0" y="0"/>
            <a:chExt cx="4095900" cy="3714900"/>
          </a:xfrm>
        </p:grpSpPr>
        <p:sp>
          <p:nvSpPr>
            <p:cNvPr id="113" name="Google Shape;113;p17"/>
            <p:cNvSpPr/>
            <p:nvPr/>
          </p:nvSpPr>
          <p:spPr>
            <a:xfrm>
              <a:off x="0" y="0"/>
              <a:ext cx="4095900" cy="3714900"/>
            </a:xfrm>
            <a:prstGeom prst="roundRect">
              <a:avLst>
                <a:gd fmla="val 205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304800" y="304800"/>
              <a:ext cx="3486300" cy="310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СТРАТЕГИЧЕСКИЙ ВЫВОД</a:t>
              </a:r>
              <a:endParaRPr b="1" sz="9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u" sz="112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Фокус ресурсов (72.7% рынка):</a:t>
              </a:r>
              <a:endParaRPr b="1" sz="112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1" lang="ru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Душанбе ⇄ Худжанд:</a:t>
              </a:r>
              <a:r>
                <a:rPr b="0" lang="ru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Защита и насыщение спросом основного коридора.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Inter"/>
                <a:buChar char="●"/>
              </a:pPr>
              <a:r>
                <a:rPr b="1" lang="ru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Худжанд ⇄ Ойбек:</a:t>
              </a:r>
              <a:r>
                <a:rPr b="0" lang="ru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Развитие готового органического шлюза на Ташкент.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1D4ED8"/>
                  </a:solidFill>
                  <a:highlight>
                    <a:srgbClr val="EFF6FF"/>
                  </a:highlight>
                  <a:latin typeface="Inter ExtraBold"/>
                  <a:ea typeface="Inter ExtraBold"/>
                  <a:cs typeface="Inter ExtraBold"/>
                  <a:sym typeface="Inter ExtraBold"/>
                </a:rPr>
                <a:t>Решение PM</a:t>
              </a:r>
              <a:endParaRPr b="0" sz="950">
                <a:solidFill>
                  <a:srgbClr val="1D4ED8"/>
                </a:solidFill>
                <a:highlight>
                  <a:srgbClr val="EFF6FF"/>
                </a:highlight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1E3A8A"/>
                  </a:solidFill>
                  <a:highlight>
                    <a:srgbClr val="EFF6FF"/>
                  </a:highlight>
                  <a:latin typeface="Inter Medium"/>
                  <a:ea typeface="Inter Medium"/>
                  <a:cs typeface="Inter Medium"/>
                  <a:sym typeface="Inter Medium"/>
                </a:rPr>
                <a:t>Весь маркетинговый бюджет направляется исключительно на эти две артерии. Запуск второстепенных направлений замораживается до стабилизации спроса на ядре.</a:t>
              </a:r>
              <a:endParaRPr b="0" sz="1000">
                <a:solidFill>
                  <a:srgbClr val="1E3A8A"/>
                </a:solidFill>
                <a:highlight>
                  <a:srgbClr val="EFF6FF"/>
                </a:highlight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15" name="Google Shape;115;p17" title="navbar_logo-DWVVgoV4.png"/>
          <p:cNvPicPr preferRelativeResize="0"/>
          <p:nvPr/>
        </p:nvPicPr>
        <p:blipFill rotWithShape="1">
          <a:blip r:embed="rId3">
            <a:alphaModFix/>
          </a:blip>
          <a:srcRect b="0" l="7334" r="7385" t="0"/>
          <a:stretch/>
        </p:blipFill>
        <p:spPr>
          <a:xfrm>
            <a:off x="7355575" y="20841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81000" y="22860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Структура мест и ценовые ожидания участников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81000" y="1047750"/>
            <a:ext cx="4095900" cy="3333900"/>
          </a:xfrm>
          <a:prstGeom prst="roundRect">
            <a:avLst>
              <a:gd fmla="val 22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685800" y="1352550"/>
            <a:ext cx="3486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СТРУКТУРА МЕСТ</a:t>
            </a:r>
            <a:endParaRPr b="1" sz="90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ru" sz="2100">
                <a:solidFill>
                  <a:srgbClr val="1D4E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75.3%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пассажиров ищут </a:t>
            </a:r>
            <a:r>
              <a:rPr b="1"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1–2 места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(из них 54.9% едут в одиночку)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При этом </a:t>
            </a:r>
            <a:r>
              <a:rPr b="0" lang="ru" sz="1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69.4%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водителей предлагают стандартный </a:t>
            </a:r>
            <a:r>
              <a:rPr b="1"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4-местный седан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ru" sz="975">
                <a:solidFill>
                  <a:srgbClr val="1E3A8A"/>
                </a:solidFill>
                <a:highlight>
                  <a:srgbClr val="EFF6FF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Hamroh идеально закрывает задачу добора попутчиков.</a:t>
            </a:r>
            <a:endParaRPr b="0" sz="975">
              <a:solidFill>
                <a:srgbClr val="1E3A8A"/>
              </a:solidFill>
              <a:highlight>
                <a:srgbClr val="EFF6FF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667250" y="1047750"/>
            <a:ext cx="4095900" cy="3333900"/>
          </a:xfrm>
          <a:prstGeom prst="roundRect">
            <a:avLst>
              <a:gd fmla="val 22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4972050" y="1352550"/>
            <a:ext cx="3486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ЦЕНОВОЙ АРБИТРАЖ</a:t>
            </a:r>
            <a:endParaRPr b="1" sz="900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На маршруте </a:t>
            </a:r>
            <a:r>
              <a:rPr b="1"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Душанбе ⇄ Худжанд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наблюдается разрыв в </a:t>
            </a:r>
            <a:r>
              <a:rPr b="0" lang="ru" sz="180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20–30 TJS</a:t>
            </a:r>
            <a:r>
              <a:rPr lang="ru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0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ru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Пассажиры ожидают: </a:t>
            </a:r>
            <a:r>
              <a:rPr b="1" lang="ru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130–150 TJS</a:t>
            </a:r>
            <a:endParaRPr sz="9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ru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Водители выставляют: </a:t>
            </a:r>
            <a:r>
              <a:rPr b="1" lang="ru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160–180 TJS</a:t>
            </a:r>
            <a:endParaRPr sz="975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ru" sz="975">
                <a:solidFill>
                  <a:srgbClr val="0F172A"/>
                </a:solidFill>
                <a:highlight>
                  <a:srgbClr val="F8FAFC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Направление </a:t>
            </a:r>
            <a:r>
              <a:rPr b="1" lang="ru" sz="975">
                <a:solidFill>
                  <a:srgbClr val="1D4ED8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Худжанд ⇄ Ойбек</a:t>
            </a:r>
            <a:r>
              <a:rPr b="0" lang="ru" sz="975">
                <a:solidFill>
                  <a:srgbClr val="0F172A"/>
                </a:solidFill>
                <a:highlight>
                  <a:srgbClr val="F8FAFC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 находится в идеальном паритете — цена составляет </a:t>
            </a:r>
            <a:r>
              <a:rPr b="1" lang="ru" sz="975">
                <a:solidFill>
                  <a:srgbClr val="1D4ED8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50 TJS</a:t>
            </a:r>
            <a:r>
              <a:rPr b="0" lang="ru" sz="975">
                <a:solidFill>
                  <a:srgbClr val="0F172A"/>
                </a:solidFill>
                <a:highlight>
                  <a:srgbClr val="F8FAFC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 для обеих сторон.</a:t>
            </a:r>
            <a:endParaRPr b="0" sz="975">
              <a:solidFill>
                <a:srgbClr val="0F172A"/>
              </a:solidFill>
              <a:highlight>
                <a:srgbClr val="F8FAFC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7" name="Google Shape;127;p18" title="navbar_logo-DWVVgoV4.png"/>
          <p:cNvPicPr preferRelativeResize="0"/>
          <p:nvPr/>
        </p:nvPicPr>
        <p:blipFill rotWithShape="1">
          <a:blip r:embed="rId3">
            <a:alphaModFix/>
          </a:blip>
          <a:srcRect b="0" l="7334" r="7385" t="0"/>
          <a:stretch/>
        </p:blipFill>
        <p:spPr>
          <a:xfrm>
            <a:off x="7355575" y="11316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3" name="Google Shape;133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 txBox="1"/>
            <p:nvPr/>
          </p:nvSpPr>
          <p:spPr>
            <a:xfrm>
              <a:off x="381000" y="228600"/>
              <a:ext cx="666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Тактика привлечения пассажиров (Demand-side Acquisition)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6" name="Google Shape;136;p19"/>
          <p:cNvGrpSpPr/>
          <p:nvPr/>
        </p:nvGrpSpPr>
        <p:grpSpPr>
          <a:xfrm>
            <a:off x="381000" y="952500"/>
            <a:ext cx="8382000" cy="857400"/>
            <a:chOff x="0" y="0"/>
            <a:chExt cx="8382000" cy="857400"/>
          </a:xfrm>
        </p:grpSpPr>
        <p:sp>
          <p:nvSpPr>
            <p:cNvPr id="137" name="Google Shape;137;p19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8888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0" y="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D4E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 txBox="1"/>
            <p:nvPr/>
          </p:nvSpPr>
          <p:spPr>
            <a:xfrm>
              <a:off x="304800" y="228600"/>
              <a:ext cx="77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ru" sz="1125">
                  <a:solidFill>
                    <a:srgbClr val="1E3A8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Ключевой оффер: «0% комиссии сервиса. Комфортные поездки от дома без ожидания и переплат на вокзалах»</a:t>
              </a:r>
              <a:endParaRPr b="0" sz="1125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40" name="Google Shape;140;p19"/>
          <p:cNvGrpSpPr/>
          <p:nvPr/>
        </p:nvGrpSpPr>
        <p:grpSpPr>
          <a:xfrm>
            <a:off x="381000" y="2000250"/>
            <a:ext cx="2667000" cy="2286000"/>
            <a:chOff x="0" y="0"/>
            <a:chExt cx="2667000" cy="2286000"/>
          </a:xfrm>
        </p:grpSpPr>
        <p:sp>
          <p:nvSpPr>
            <p:cNvPr id="141" name="Google Shape;141;p19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Таргет Душанбе ⇄ Худжанд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Акцент на уход от многочасового ожидания на пятачках («Цементзавод», «Рохи Абрешим») (Meta, Telegram).</a:t>
              </a:r>
              <a:endParaRPr b="0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975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Оффер: «Машина ждет тебя прямо сейчас от 150 TJS»</a:t>
              </a:r>
              <a:endParaRPr b="1" sz="975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p19"/>
          <p:cNvGrpSpPr/>
          <p:nvPr/>
        </p:nvGrpSpPr>
        <p:grpSpPr>
          <a:xfrm>
            <a:off x="3238500" y="2000250"/>
            <a:ext cx="2667000" cy="2286000"/>
            <a:chOff x="0" y="0"/>
            <a:chExt cx="2667000" cy="2286000"/>
          </a:xfrm>
        </p:grpSpPr>
        <p:sp>
          <p:nvSpPr>
            <p:cNvPr id="144" name="Google Shape;144;p19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Трансграничный трафик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Реклама на Ойбек / Ташкент ориентирована на студентов, туристов и челноков.</a:t>
              </a:r>
              <a:endParaRPr b="0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975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Оффер: «Трансфер до границы Ойбек от 50 TJS»</a:t>
              </a:r>
              <a:endParaRPr b="1" sz="975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19"/>
          <p:cNvGrpSpPr/>
          <p:nvPr/>
        </p:nvGrpSpPr>
        <p:grpSpPr>
          <a:xfrm>
            <a:off x="6096000" y="2000250"/>
            <a:ext cx="2667000" cy="2286000"/>
            <a:chOff x="0" y="0"/>
            <a:chExt cx="2667000" cy="2286000"/>
          </a:xfrm>
        </p:grpSpPr>
        <p:sp>
          <p:nvSpPr>
            <p:cNvPr id="147" name="Google Shape;147;p19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228600" y="228600"/>
              <a:ext cx="22098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Time-targeted реклама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ru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Показ вечером с 18:00 до 22:00, т.к. 70% выездов идут утром с 05:00 до 10:00.</a:t>
              </a:r>
              <a:endParaRPr b="0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975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Призыв: «Забронируй с вечера и выезжай утром вовремя»</a:t>
              </a:r>
              <a:endParaRPr b="1" sz="975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49" name="Google Shape;149;p19" title="navbar_logo-DWVVgoV4.png"/>
          <p:cNvPicPr preferRelativeResize="0"/>
          <p:nvPr/>
        </p:nvPicPr>
        <p:blipFill rotWithShape="1">
          <a:blip r:embed="rId3">
            <a:alphaModFix/>
          </a:blip>
          <a:srcRect b="0" l="7334" r="7385" t="0"/>
          <a:stretch/>
        </p:blipFill>
        <p:spPr>
          <a:xfrm>
            <a:off x="7355425" y="11636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381000" y="228600"/>
            <a:ext cx="6667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План действий и ключевые этапы развития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6" name="Google Shape;156;p20"/>
          <p:cNvGrpSpPr/>
          <p:nvPr/>
        </p:nvGrpSpPr>
        <p:grpSpPr>
          <a:xfrm>
            <a:off x="3048000" y="1676400"/>
            <a:ext cx="3048000" cy="76200"/>
            <a:chOff x="3048000" y="1676400"/>
            <a:chExt cx="3048000" cy="76200"/>
          </a:xfrm>
        </p:grpSpPr>
        <p:pic>
          <p:nvPicPr>
            <p:cNvPr id="157" name="Google Shape;15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48000" y="170497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0"/>
            <p:cNvSpPr/>
            <p:nvPr/>
          </p:nvSpPr>
          <p:spPr>
            <a:xfrm>
              <a:off x="3181350" y="1676400"/>
              <a:ext cx="381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" name="Google Shape;1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05500" y="170497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0"/>
            <p:cNvSpPr/>
            <p:nvPr/>
          </p:nvSpPr>
          <p:spPr>
            <a:xfrm>
              <a:off x="6038850" y="1676400"/>
              <a:ext cx="38100" cy="762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20"/>
          <p:cNvGrpSpPr/>
          <p:nvPr/>
        </p:nvGrpSpPr>
        <p:grpSpPr>
          <a:xfrm>
            <a:off x="381000" y="1333500"/>
            <a:ext cx="2667000" cy="3048000"/>
            <a:chOff x="0" y="0"/>
            <a:chExt cx="2667000" cy="3048000"/>
          </a:xfrm>
        </p:grpSpPr>
        <p:sp>
          <p:nvSpPr>
            <p:cNvPr id="162" name="Google Shape;162;p20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228600" y="228600"/>
              <a:ext cx="304800" cy="304800"/>
            </a:xfrm>
            <a:prstGeom prst="ellipse">
              <a:avLst/>
            </a:prstGeom>
            <a:solidFill>
              <a:srgbClr val="EFF6FF"/>
            </a:solidFill>
            <a:ln cap="flat" cmpd="sng" w="1430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228600" y="228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20"/>
            <p:cNvSpPr txBox="1"/>
            <p:nvPr/>
          </p:nvSpPr>
          <p:spPr>
            <a:xfrm>
              <a:off x="228600" y="762000"/>
              <a:ext cx="22098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Месяц 1</a:t>
              </a:r>
              <a:endParaRPr b="1" sz="9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Локальный буст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013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Запуск таргета на пассажиров Душанбе ⇄ Худжанд, сбор комьюнити из топ-50 водителей и внедрение пуш-опроса для фиксации реальных поездок.</a:t>
              </a:r>
              <a:endParaRPr b="0" sz="1013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20"/>
          <p:cNvGrpSpPr/>
          <p:nvPr/>
        </p:nvGrpSpPr>
        <p:grpSpPr>
          <a:xfrm>
            <a:off x="3238500" y="1333500"/>
            <a:ext cx="2667000" cy="3048000"/>
            <a:chOff x="0" y="0"/>
            <a:chExt cx="2667000" cy="3048000"/>
          </a:xfrm>
        </p:grpSpPr>
        <p:sp>
          <p:nvSpPr>
            <p:cNvPr id="167" name="Google Shape;167;p20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228600" y="228600"/>
              <a:ext cx="304800" cy="304800"/>
            </a:xfrm>
            <a:prstGeom prst="ellipse">
              <a:avLst/>
            </a:prstGeom>
            <a:solidFill>
              <a:srgbClr val="EFF6FF"/>
            </a:solidFill>
            <a:ln cap="flat" cmpd="sng" w="1430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228600" y="228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228600" y="762000"/>
              <a:ext cx="22098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Месяц 2</a:t>
              </a:r>
              <a:endParaRPr b="1" sz="9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Упаковка шлюза и рост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013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Репозиционирование пункта назначения в «Ойбек (Ташкент / граница)», запуск реферальной программы и первичное подключение южных направлений (Бохтар, Куляб).</a:t>
              </a:r>
              <a:endParaRPr b="0" sz="1013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6096000" y="1333500"/>
            <a:ext cx="2667000" cy="3048000"/>
            <a:chOff x="0" y="0"/>
            <a:chExt cx="2667000" cy="3048000"/>
          </a:xfrm>
        </p:grpSpPr>
        <p:sp>
          <p:nvSpPr>
            <p:cNvPr id="172" name="Google Shape;172;p20"/>
            <p:cNvSpPr/>
            <p:nvPr/>
          </p:nvSpPr>
          <p:spPr>
            <a:xfrm>
              <a:off x="0" y="0"/>
              <a:ext cx="2667000" cy="30480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228600" y="228600"/>
              <a:ext cx="304800" cy="304800"/>
            </a:xfrm>
            <a:prstGeom prst="ellipse">
              <a:avLst/>
            </a:prstGeom>
            <a:solidFill>
              <a:srgbClr val="EFF6FF"/>
            </a:solidFill>
            <a:ln cap="flat" cmpd="sng" w="14300">
              <a:solidFill>
                <a:srgbClr val="1D4E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228600" y="228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05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228600" y="762000"/>
              <a:ext cx="2209800" cy="20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900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Месяц 3</a:t>
              </a:r>
              <a:endParaRPr b="1" sz="90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Международная экспансия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013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Интеграция SMS-авторизации для номеров Узбекистана (+998) и Кыргызстана (+996), локализация интерфейса на соответствующие языки и запуск прямых рейсов в Ташкент и Самарканд.</a:t>
              </a:r>
              <a:endParaRPr b="0" sz="1013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6" name="Google Shape;176;p20" title="navbar_logo-DWVVgoV4.png"/>
          <p:cNvPicPr preferRelativeResize="0"/>
          <p:nvPr/>
        </p:nvPicPr>
        <p:blipFill rotWithShape="1">
          <a:blip r:embed="rId4">
            <a:alphaModFix/>
          </a:blip>
          <a:srcRect b="0" l="7334" r="7385" t="0"/>
          <a:stretch/>
        </p:blipFill>
        <p:spPr>
          <a:xfrm>
            <a:off x="7355425" y="189369"/>
            <a:ext cx="1407575" cy="6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